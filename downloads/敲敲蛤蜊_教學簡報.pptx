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0000" y="936000"/>
            <a:ext cx="6480000" cy="1296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2520"/>
              </a:spcAft>
            </a:pPr>
            <a:r>
              <a:rPr sz="7200" b="1">
                <a:solidFill>
                  <a:srgbClr val="142B5C"/>
                </a:solidFill>
                <a:latin typeface="微軟正黑體"/>
                <a:ea typeface="微軟正黑體"/>
              </a:rPr>
              <a:t>敲敲蛤蜊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6000" y="2304000"/>
            <a:ext cx="6480000" cy="503999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910"/>
              </a:spcAft>
            </a:pPr>
            <a:r>
              <a:rPr sz="2600" b="1">
                <a:solidFill>
                  <a:srgbClr val="A8781C"/>
                </a:solidFill>
                <a:latin typeface="微軟正黑體"/>
                <a:ea typeface="微軟正黑體"/>
              </a:rPr>
              <a:t>從魚塭到餐桌的文蛤探究之旅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6000" y="2951999"/>
            <a:ext cx="6120000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630"/>
              </a:spcAft>
            </a:pPr>
            <a:r>
              <a:rPr sz="1800" b="0">
                <a:solidFill>
                  <a:srgbClr val="263048"/>
                </a:solidFill>
                <a:latin typeface="微軟正黑體"/>
                <a:ea typeface="微軟正黑體"/>
              </a:rPr>
              <a:t>國小五年級　食農教育主題課程（4節）</a:t>
            </a:r>
          </a:p>
          <a:p>
            <a:pPr algn="l">
              <a:lnSpc>
                <a:spcPct val="115000"/>
              </a:lnSpc>
              <a:spcAft>
                <a:spcPts val="630"/>
              </a:spcAft>
            </a:pPr>
            <a:r>
              <a:rPr sz="1800" b="0">
                <a:solidFill>
                  <a:srgbClr val="263048"/>
                </a:solidFill>
                <a:latin typeface="微軟正黑體"/>
                <a:ea typeface="微軟正黑體"/>
              </a:rPr>
              <a:t>科普・構造・吐沙實驗・青農專訪・料理・蛤殼藝術</a:t>
            </a:r>
          </a:p>
        </p:txBody>
      </p:sp>
      <p:pic>
        <p:nvPicPr>
          <p:cNvPr id="6" name="Picture 5" descr="charac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63" y="4031999"/>
            <a:ext cx="5201673" cy="266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課程地圖：四節課的文蛤探究之旅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看見魚塭 → 認識青農 → 吐沙與料理 → 蛤殼再利用</a:t>
            </a:r>
          </a:p>
        </p:txBody>
      </p:sp>
      <p:pic>
        <p:nvPicPr>
          <p:cNvPr id="5" name="Picture 4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572" y="1800000"/>
            <a:ext cx="8250855" cy="482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九宮格思考法：文蛤的八個探究面向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課前寫已知（藍筆）・課中找答案・課後補新知（紅筆）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835999"/>
            <a:ext cx="4824000" cy="46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A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2015999"/>
            <a:ext cx="4464000" cy="439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怎麼做？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1. 九宮格正中央寫「文蛤」。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2. 外圍八格：長相構造、住在哪裡、怎麼挑選、吐沙祕訣、美味料理、營養價值、養殖青農、蛤殼再利用。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3. 第一節課前用藍筆寫下我知道的與想問的。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4. 每節課用紅筆補上新發現。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5. 第四節比較前後差異，寫下最大收穫。</a:t>
            </a:r>
          </a:p>
        </p:txBody>
      </p:sp>
      <p:pic>
        <p:nvPicPr>
          <p:cNvPr id="7" name="Picture 6" descr="nine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6000" y="2082628"/>
            <a:ext cx="6192000" cy="4186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蛤蜊家族大集合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比一比：形狀、花紋、顏色哪裡不一樣？</a:t>
            </a:r>
          </a:p>
        </p:txBody>
      </p:sp>
      <p:pic>
        <p:nvPicPr>
          <p:cNvPr id="5" name="Picture 4" descr="fami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800000"/>
            <a:ext cx="9648000" cy="482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文蛤的構造：濾食性動物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入水管吸水濾食微藻・出水管排水・斧足鑽沙・閉殼肌關殼</a:t>
            </a:r>
          </a:p>
        </p:txBody>
      </p:sp>
      <p:pic>
        <p:nvPicPr>
          <p:cNvPr id="5" name="Picture 4" descr="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0098" y="1800000"/>
            <a:ext cx="7647804" cy="482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看・聽・聞　挑新鮮文蛤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小組任務：從10顆文蛤中找出不新鮮的，放進淘汰盒並說明理由</a:t>
            </a:r>
          </a:p>
        </p:txBody>
      </p:sp>
      <p:pic>
        <p:nvPicPr>
          <p:cNvPr id="5" name="Picture 4" descr="s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5581" y="1800000"/>
            <a:ext cx="7456837" cy="482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文蛤小王子來上課：百大青農專訪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協同教學：第8屆百大青農・文蛤養殖第四代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835999"/>
            <a:ext cx="5256000" cy="46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A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2015999"/>
            <a:ext cx="4896000" cy="439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青農的故事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・原在臺北精品業工作，因父親巡塭中暑而返鄉。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・家族第四代養殖漁民，虱目魚價低迷時改養文蛤。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・創立水產品牌、推動食農教育，獲選百大青農。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小記者任務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・用九宮格發想訪綱，票選5題。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・分工：主持人、提問員、記錄員、攝影師。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・訪問禮儀：自我介紹、輪流提問、專心聆聽、道謝。</a:t>
            </a:r>
          </a:p>
        </p:txBody>
      </p:sp>
      <p:pic>
        <p:nvPicPr>
          <p:cNvPr id="7" name="Picture 6" descr="book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000" y="2166092"/>
            <a:ext cx="5831999" cy="39478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魚塭生態三角鏈與友善養殖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文蛤濾食微藻・虱目魚翻動水層・白蝦清理池底；收成後留淺水給黑面琵鷺</a:t>
            </a:r>
          </a:p>
        </p:txBody>
      </p:sp>
      <p:pic>
        <p:nvPicPr>
          <p:cNvPr id="5" name="Picture 4" descr="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9774" y="1800000"/>
            <a:ext cx="7528451" cy="482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吐沙大作戰：文蛤吐沙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鹽度像家（1000cc水＋18～25克鹽）・蓋上蓋子變暗・20～27°C・2～3小時</a:t>
            </a:r>
          </a:p>
        </p:txBody>
      </p:sp>
      <p:pic>
        <p:nvPicPr>
          <p:cNvPr id="5" name="Picture 4" descr="s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340" y="1800000"/>
            <a:ext cx="8895319" cy="482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對照實驗與標章偵探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只改變「鹽度」：A盆清水 vs. B盆鹽水，哪一盆吐出比較多沙？</a:t>
            </a:r>
          </a:p>
        </p:txBody>
      </p:sp>
      <p:pic>
        <p:nvPicPr>
          <p:cNvPr id="5" name="Picture 4" descr="book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813846"/>
            <a:ext cx="5760000" cy="37883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8000" y="1835999"/>
            <a:ext cx="5256000" cy="46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A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3999" y="2015999"/>
            <a:ext cx="4896000" cy="439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1">
                <a:solidFill>
                  <a:srgbClr val="A8781C"/>
                </a:solidFill>
                <a:latin typeface="微軟正黑體"/>
                <a:ea typeface="微軟正黑體"/>
              </a:rPr>
              <a:t>控制變因</a:t>
            </a:r>
          </a:p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0">
                <a:solidFill>
                  <a:srgbClr val="263048"/>
                </a:solidFill>
                <a:latin typeface="微軟正黑體"/>
                <a:ea typeface="微軟正黑體"/>
              </a:rPr>
              <a:t>文蛤數量、水量、時間、蓋蓋子都相同，只改變鹽度。</a:t>
            </a:r>
          </a:p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1">
                <a:solidFill>
                  <a:srgbClr val="A8781C"/>
                </a:solidFill>
                <a:latin typeface="微軟正黑體"/>
                <a:ea typeface="微軟正黑體"/>
              </a:rPr>
              <a:t>三章一Q 標章偵探</a:t>
            </a:r>
          </a:p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0">
                <a:solidFill>
                  <a:srgbClr val="263048"/>
                </a:solidFill>
                <a:latin typeface="微軟正黑體"/>
                <a:ea typeface="微軟正黑體"/>
              </a:rPr>
              <a:t>・有機、產銷履歷、CAS 標章＋生產追溯 QR Code。</a:t>
            </a:r>
          </a:p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0">
                <a:solidFill>
                  <a:srgbClr val="263048"/>
                </a:solidFill>
                <a:latin typeface="微軟正黑體"/>
                <a:ea typeface="微軟正黑體"/>
              </a:rPr>
              <a:t>・用平板掃描追溯 QR Code，查出文蛤來自哪口魚塭。</a:t>
            </a:r>
          </a:p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1">
                <a:solidFill>
                  <a:srgbClr val="A8781C"/>
                </a:solidFill>
                <a:latin typeface="微軟正黑體"/>
                <a:ea typeface="微軟正黑體"/>
              </a:rPr>
              <a:t>營養小教室</a:t>
            </a:r>
          </a:p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0">
                <a:solidFill>
                  <a:srgbClr val="263048"/>
                </a:solidFill>
                <a:latin typeface="微軟正黑體"/>
                <a:ea typeface="微軟正黑體"/>
              </a:rPr>
              <a:t>・文蛤富含鐵質、維生素B12、牛磺酸與優質蛋白質。</a:t>
            </a:r>
          </a:p>
          <a:p>
            <a:pPr algn="l">
              <a:lnSpc>
                <a:spcPct val="115000"/>
              </a:lnSpc>
              <a:spcAft>
                <a:spcPts val="577"/>
              </a:spcAft>
            </a:pPr>
            <a:r>
              <a:rPr sz="1650" b="0">
                <a:solidFill>
                  <a:srgbClr val="263048"/>
                </a:solidFill>
                <a:latin typeface="微軟正黑體"/>
                <a:ea typeface="微軟正黑體"/>
              </a:rPr>
              <a:t>・加熱後沒有開殼的文蛤不吃！</a:t>
            </a:r>
          </a:p>
        </p:txBody>
      </p:sp>
      <p:pic>
        <p:nvPicPr>
          <p:cNvPr id="8" name="Picture 7" descr="book_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2940" y="5472000"/>
            <a:ext cx="1982117" cy="129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蛤殼變身藝術家：文蛤香包吊飾 DIY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惜食材・吃全食：吃完的蛤殼不是垃圾！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835999"/>
            <a:ext cx="5256000" cy="46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A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2015999"/>
            <a:ext cx="4896000" cy="439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步驟1　</a:t>
            </a: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選殼：兩片大小相同、洗淨曬乾的文蛤殼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步驟2　</a:t>
            </a: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選布：碎布裁成比殼大約1.5公分的圓形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步驟3　</a:t>
            </a: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包覆：放入乾燥香草與棉花，白膠包布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步驟4　</a:t>
            </a: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組合：夾入吊繩或流蘇，兩片殼黏合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步驟5　</a:t>
            </a: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裝飾：加上小珠子、寫上名字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※ 剪刀、熱熔膠由老師示範與管理</a:t>
            </a:r>
          </a:p>
        </p:txBody>
      </p:sp>
      <p:pic>
        <p:nvPicPr>
          <p:cNvPr id="7" name="Picture 6" descr="book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000" y="2217683"/>
            <a:ext cx="5831999" cy="38446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EF4FB"/>
            </a:gs>
            <a:gs pos="100000">
              <a:srgbClr val="F8F6F0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g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720000"/>
            <a:ext cx="10980000" cy="68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1120"/>
              </a:spcAft>
            </a:pPr>
            <a:r>
              <a:rPr sz="3200" b="1">
                <a:solidFill>
                  <a:srgbClr val="142B5C"/>
                </a:solidFill>
                <a:latin typeface="微軟正黑體"/>
                <a:ea typeface="微軟正黑體"/>
              </a:rPr>
              <a:t>我的惜食承諾與九宮格總整理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000" y="1350000"/>
            <a:ext cx="10800000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500" b="0">
                <a:solidFill>
                  <a:srgbClr val="A8781C"/>
                </a:solidFill>
                <a:latin typeface="微軟正黑體"/>
                <a:ea typeface="微軟正黑體"/>
              </a:rPr>
              <a:t>把香包送給家人，向家人介紹吐沙方法與在地文蛤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835999"/>
            <a:ext cx="5256000" cy="46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A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2015999"/>
            <a:ext cx="4896000" cy="439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惜食承諾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□ 吃多少、煮多少，不剩食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□ 蛤殼洗淨再利用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□ 支持在地當季的文蛤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九宮格後測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用紅筆完成八格，比一比上課前後的差異。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1">
                <a:solidFill>
                  <a:srgbClr val="A8781C"/>
                </a:solidFill>
                <a:latin typeface="微軟正黑體"/>
                <a:ea typeface="微軟正黑體"/>
              </a:rPr>
              <a:t>教學資源網站</a:t>
            </a:r>
          </a:p>
          <a:p>
            <a:pPr algn="l">
              <a:lnSpc>
                <a:spcPct val="115000"/>
              </a:lnSpc>
              <a:spcAft>
                <a:spcPts val="594"/>
              </a:spcAft>
            </a:pPr>
            <a:r>
              <a:rPr sz="1700" b="0">
                <a:solidFill>
                  <a:srgbClr val="263048"/>
                </a:solidFill>
                <a:latin typeface="微軟正黑體"/>
                <a:ea typeface="微軟正黑體"/>
              </a:rPr>
              <a:t>https://maxchin18.github.io/knock-knock-clam/</a:t>
            </a:r>
          </a:p>
        </p:txBody>
      </p:sp>
      <p:pic>
        <p:nvPicPr>
          <p:cNvPr id="7" name="Picture 6" descr="book_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000" y="1861615"/>
            <a:ext cx="5831999" cy="3476769"/>
          </a:xfrm>
          <a:prstGeom prst="rect">
            <a:avLst/>
          </a:prstGeom>
        </p:spPr>
      </p:pic>
      <p:pic>
        <p:nvPicPr>
          <p:cNvPr id="8" name="Picture 7" descr="site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0000" y="5256000"/>
            <a:ext cx="1368000" cy="136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